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7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9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1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1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6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2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7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9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4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7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E676D7-9BF2-3B53-90CF-44312198C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pt-PT" sz="4000"/>
              <a:t>Forecasting energy time series data with Generative A.I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0269A1D-FEFC-405F-9A83-B4130C96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7" r="19997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75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C7DC3-A8A3-B48E-396E-B8243700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038CC94-9B2D-FC1F-EBD0-9C6F133DA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536782"/>
          </a:xfrm>
        </p:spPr>
        <p:txBody>
          <a:bodyPr/>
          <a:lstStyle/>
          <a:p>
            <a:r>
              <a:rPr lang="pt-PT" sz="2400" dirty="0"/>
              <a:t>Desenvolver um sistema de previsão de consumo de energia elétrica com base em dados históricos.</a:t>
            </a:r>
          </a:p>
          <a:p>
            <a:r>
              <a:rPr lang="pt-PT" sz="2400" dirty="0"/>
              <a:t> Testar e comparar diferentes modelos de </a:t>
            </a:r>
            <a:r>
              <a:rPr lang="pt-PT" sz="2400" dirty="0" err="1"/>
              <a:t>Machine</a:t>
            </a:r>
            <a:r>
              <a:rPr lang="pt-PT" sz="2400" dirty="0"/>
              <a:t> </a:t>
            </a:r>
            <a:r>
              <a:rPr lang="pt-PT" sz="2400" dirty="0" err="1"/>
              <a:t>Learning</a:t>
            </a:r>
            <a:r>
              <a:rPr lang="pt-PT" sz="2400" dirty="0"/>
              <a:t> e </a:t>
            </a:r>
            <a:r>
              <a:rPr lang="pt-PT" sz="2400" dirty="0" err="1"/>
              <a:t>Deep</a:t>
            </a:r>
            <a:r>
              <a:rPr lang="pt-PT" sz="2400" dirty="0"/>
              <a:t> </a:t>
            </a:r>
            <a:r>
              <a:rPr lang="pt-PT" sz="2400" dirty="0" err="1"/>
              <a:t>Learning</a:t>
            </a:r>
            <a:r>
              <a:rPr lang="pt-PT" sz="2400" dirty="0"/>
              <a:t> para previsão.</a:t>
            </a:r>
          </a:p>
          <a:p>
            <a:r>
              <a:rPr lang="pt-PT" sz="2400" dirty="0"/>
              <a:t> Avaliar o desempenho de cada modelo com métricas estatísticas apropriadas.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151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9A312-A8D8-8008-7A22-95F31CFD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Processamento dos dados da rede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1821C72-F482-D627-372B-386A6BF85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790730" cy="3739896"/>
          </a:xfrm>
        </p:spPr>
        <p:txBody>
          <a:bodyPr/>
          <a:lstStyle/>
          <a:p>
            <a:pPr marL="0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pt-PT" b="0" i="0" dirty="0">
                <a:solidFill>
                  <a:srgbClr val="404040"/>
                </a:solidFill>
                <a:effectLst/>
                <a:latin typeface="DeepSeek-CJK-patch"/>
              </a:rPr>
              <a:t> </a:t>
            </a:r>
          </a:p>
          <a:p>
            <a:pPr marL="0" indent="0"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pt-PT" sz="3200" b="1" i="0" dirty="0">
                <a:solidFill>
                  <a:srgbClr val="404040"/>
                </a:solidFill>
                <a:effectLst/>
                <a:latin typeface="DeepSeek-CJK-patch"/>
              </a:rPr>
              <a:t>Dados </a:t>
            </a:r>
            <a:r>
              <a:rPr lang="pt-PT" sz="3200" b="1" dirty="0">
                <a:solidFill>
                  <a:srgbClr val="404040"/>
                </a:solidFill>
                <a:latin typeface="DeepSeek-CJK-patch"/>
              </a:rPr>
              <a:t>inputs</a:t>
            </a:r>
            <a:r>
              <a:rPr lang="pt-PT" sz="3200" b="0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pt-PT" sz="2800" b="0" i="0" dirty="0">
                <a:solidFill>
                  <a:srgbClr val="404040"/>
                </a:solidFill>
                <a:effectLst/>
                <a:latin typeface="DeepSeek-CJK-patch"/>
              </a:rPr>
              <a:t>3 fases de consumo (A, B, C)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pt-PT" sz="2800" b="0" i="0" dirty="0">
                <a:solidFill>
                  <a:srgbClr val="404040"/>
                </a:solidFill>
                <a:effectLst/>
                <a:latin typeface="DeepSeek-CJK-patch"/>
              </a:rPr>
              <a:t>3 fases de produção fotovoltaica (PV)</a:t>
            </a: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pt-PT" sz="2800" dirty="0">
              <a:solidFill>
                <a:srgbClr val="404040"/>
              </a:solidFill>
              <a:latin typeface="DeepSeek-CJK-patch"/>
            </a:endParaRP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pt-PT" sz="2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pt-PT" sz="2800" b="1" i="0" dirty="0" err="1">
                <a:solidFill>
                  <a:srgbClr val="404040"/>
                </a:solidFill>
                <a:effectLst/>
                <a:latin typeface="DeepSeek-CJK-patch"/>
              </a:rPr>
              <a:t>Nota:</a:t>
            </a:r>
            <a:r>
              <a:rPr lang="pt-PT" sz="2800" b="0" i="0" dirty="0" err="1">
                <a:solidFill>
                  <a:srgbClr val="404040"/>
                </a:solidFill>
                <a:effectLst/>
                <a:latin typeface="DeepSeek-CJK-patch"/>
              </a:rPr>
              <a:t>Dados</a:t>
            </a:r>
            <a:r>
              <a:rPr lang="pt-PT" sz="2800" b="0" i="0" dirty="0">
                <a:solidFill>
                  <a:srgbClr val="404040"/>
                </a:solidFill>
                <a:effectLst/>
                <a:latin typeface="DeepSeek-CJK-patch"/>
              </a:rPr>
              <a:t> separados por nós da rede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3970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337AC-B606-43C1-5AF7-AEDE6EAE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43583"/>
          </a:xfrm>
        </p:spPr>
        <p:txBody>
          <a:bodyPr/>
          <a:lstStyle/>
          <a:p>
            <a:r>
              <a:rPr lang="pt-PT" dirty="0"/>
              <a:t>Processamento dos dados da rede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85D765-A102-3695-371B-CFF01FA5D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1"/>
            <a:ext cx="10790730" cy="3916161"/>
          </a:xfrm>
        </p:spPr>
        <p:txBody>
          <a:bodyPr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400" dirty="0">
                <a:solidFill>
                  <a:srgbClr val="404040"/>
                </a:solidFill>
                <a:latin typeface="DeepSeek-CJK-patch"/>
              </a:rPr>
              <a:t>Upload</a:t>
            </a: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 cada ficheiro TXT individual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Para cada fase: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000" b="0" i="0" dirty="0">
                <a:solidFill>
                  <a:srgbClr val="404040"/>
                </a:solidFill>
                <a:effectLst/>
                <a:latin typeface="DeepSeek-CJK-patch"/>
              </a:rPr>
              <a:t>Somar </a:t>
            </a:r>
            <a:r>
              <a:rPr lang="pt-PT" sz="2000" b="1" i="0" dirty="0">
                <a:solidFill>
                  <a:srgbClr val="404040"/>
                </a:solidFill>
                <a:effectLst/>
                <a:latin typeface="DeepSeek-CJK-patch"/>
              </a:rPr>
              <a:t>todos os nós</a:t>
            </a:r>
            <a:r>
              <a:rPr lang="pt-PT" sz="2000" b="0" i="0" dirty="0">
                <a:solidFill>
                  <a:srgbClr val="404040"/>
                </a:solidFill>
                <a:effectLst/>
                <a:latin typeface="DeepSeek-CJK-patch"/>
              </a:rPr>
              <a:t> (colunas)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000" b="0" i="0" dirty="0">
                <a:solidFill>
                  <a:srgbClr val="404040"/>
                </a:solidFill>
                <a:effectLst/>
                <a:latin typeface="DeepSeek-CJK-patch"/>
              </a:rPr>
              <a:t>Garantir </a:t>
            </a:r>
            <a:r>
              <a:rPr lang="pt-PT" sz="2000" b="1" i="0" dirty="0">
                <a:solidFill>
                  <a:srgbClr val="404040"/>
                </a:solidFill>
                <a:effectLst/>
                <a:latin typeface="DeepSeek-CJK-patch"/>
              </a:rPr>
              <a:t>um único valor por </a:t>
            </a:r>
            <a:r>
              <a:rPr lang="pt-PT" sz="2000" b="1" i="0" dirty="0" err="1">
                <a:solidFill>
                  <a:srgbClr val="404040"/>
                </a:solidFill>
                <a:effectLst/>
                <a:latin typeface="DeepSeek-CJK-patch"/>
              </a:rPr>
              <a:t>timestamp</a:t>
            </a:r>
            <a:endParaRPr lang="pt-PT" sz="20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Somar as 3 fases (</a:t>
            </a:r>
            <a:r>
              <a:rPr lang="pt-PT" sz="2400" b="0" i="0" dirty="0" err="1">
                <a:solidFill>
                  <a:srgbClr val="404040"/>
                </a:solidFill>
                <a:effectLst/>
                <a:latin typeface="DeepSeek-CJK-patch"/>
              </a:rPr>
              <a:t>a+</a:t>
            </a:r>
            <a:r>
              <a:rPr lang="pt-PT" sz="2400" dirty="0" err="1">
                <a:solidFill>
                  <a:srgbClr val="404040"/>
                </a:solidFill>
                <a:latin typeface="DeepSeek-CJK-patch"/>
              </a:rPr>
              <a:t>b</a:t>
            </a:r>
            <a:r>
              <a:rPr lang="pt-PT" sz="2400" b="0" i="0" dirty="0" err="1">
                <a:solidFill>
                  <a:srgbClr val="404040"/>
                </a:solidFill>
                <a:effectLst/>
                <a:latin typeface="DeepSeek-CJK-patch"/>
              </a:rPr>
              <a:t>+</a:t>
            </a:r>
            <a:r>
              <a:rPr lang="pt-PT" sz="2400" dirty="0" err="1">
                <a:solidFill>
                  <a:srgbClr val="404040"/>
                </a:solidFill>
                <a:latin typeface="DeepSeek-CJK-patch"/>
              </a:rPr>
              <a:t>c</a:t>
            </a: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Calcular </a:t>
            </a:r>
            <a:r>
              <a:rPr lang="pt-PT" sz="2400" b="1" i="0" dirty="0">
                <a:solidFill>
                  <a:srgbClr val="404040"/>
                </a:solidFill>
                <a:effectLst/>
                <a:latin typeface="DeepSeek-CJK-patch"/>
              </a:rPr>
              <a:t>consumo líquido total</a:t>
            </a: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: Consumo Total - Produção PV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9046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8939C-A902-6602-961D-65425A37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F8CBEE1-3361-C5A8-0AAA-D58C77D16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pt-PT" dirty="0"/>
              <a:t># Soma todos os nós de uma fase</a:t>
            </a:r>
          </a:p>
          <a:p>
            <a:pPr marL="0" indent="0">
              <a:buNone/>
            </a:pPr>
            <a:r>
              <a:rPr lang="pt-PT" dirty="0" err="1"/>
              <a:t>df</a:t>
            </a:r>
            <a:r>
              <a:rPr lang="pt-PT" dirty="0"/>
              <a:t>['total'] = </a:t>
            </a:r>
            <a:r>
              <a:rPr lang="pt-PT" dirty="0" err="1"/>
              <a:t>df.sum</a:t>
            </a:r>
            <a:r>
              <a:rPr lang="pt-PT" dirty="0"/>
              <a:t>(</a:t>
            </a:r>
            <a:r>
              <a:rPr lang="pt-PT" dirty="0" err="1"/>
              <a:t>axis</a:t>
            </a:r>
            <a:r>
              <a:rPr lang="pt-PT" dirty="0"/>
              <a:t>=1)</a:t>
            </a:r>
          </a:p>
          <a:p>
            <a:endParaRPr lang="pt-PT" dirty="0"/>
          </a:p>
          <a:p>
            <a:pPr marL="0" indent="0">
              <a:buNone/>
            </a:pPr>
            <a:r>
              <a:rPr lang="pt-PT" dirty="0"/>
              <a:t># Combina fases </a:t>
            </a:r>
            <a:r>
              <a:rPr lang="pt-PT" dirty="0" err="1"/>
              <a:t>a+b+c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dados_consolidados</a:t>
            </a:r>
            <a:r>
              <a:rPr lang="pt-PT" dirty="0"/>
              <a:t> = </a:t>
            </a:r>
            <a:r>
              <a:rPr lang="pt-PT" dirty="0" err="1"/>
              <a:t>fase_a</a:t>
            </a:r>
            <a:r>
              <a:rPr lang="pt-PT" dirty="0"/>
              <a:t> + </a:t>
            </a:r>
            <a:r>
              <a:rPr lang="pt-PT" dirty="0" err="1"/>
              <a:t>fase_b</a:t>
            </a:r>
            <a:r>
              <a:rPr lang="pt-PT" dirty="0"/>
              <a:t> + </a:t>
            </a:r>
            <a:r>
              <a:rPr lang="pt-PT" dirty="0" err="1"/>
              <a:t>fase_c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57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EFBD0-D498-1664-988C-59D420F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97668"/>
            <a:ext cx="10691265" cy="729574"/>
          </a:xfrm>
        </p:spPr>
        <p:txBody>
          <a:bodyPr/>
          <a:lstStyle/>
          <a:p>
            <a:r>
              <a:rPr lang="pt-PT" dirty="0"/>
              <a:t>exemplo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BE92044-9544-7CE8-46EA-4B19FD5BF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3429"/>
            <a:ext cx="11206264" cy="4494179"/>
          </a:xfrm>
        </p:spPr>
        <p:txBody>
          <a:bodyPr>
            <a:normAutofit fontScale="77500" lnSpcReduction="20000"/>
          </a:bodyPr>
          <a:lstStyle/>
          <a:p>
            <a:r>
              <a:rPr lang="pt-PT" dirty="0" err="1"/>
              <a:t>Timestamp</a:t>
            </a:r>
            <a:r>
              <a:rPr lang="pt-PT" dirty="0"/>
              <a:t>           | Nó1 | Nó2 | Nó3</a:t>
            </a:r>
          </a:p>
          <a:p>
            <a:r>
              <a:rPr lang="pt-PT" dirty="0"/>
              <a:t>2023-01-01 12:00:00 | 10  | 15  | 20</a:t>
            </a:r>
          </a:p>
          <a:p>
            <a:r>
              <a:rPr lang="pt-PT" dirty="0" err="1"/>
              <a:t>Timestamp</a:t>
            </a:r>
            <a:r>
              <a:rPr lang="pt-PT" dirty="0"/>
              <a:t>           | </a:t>
            </a:r>
            <a:r>
              <a:rPr lang="pt-PT" dirty="0" err="1"/>
              <a:t>Consumo_Total</a:t>
            </a:r>
            <a:endParaRPr lang="pt-PT" dirty="0"/>
          </a:p>
          <a:p>
            <a:r>
              <a:rPr lang="pt-PT" dirty="0"/>
              <a:t>2023-01-01 12:00:00 | 45  # (10+15+20)</a:t>
            </a:r>
          </a:p>
          <a:p>
            <a:r>
              <a:rPr lang="pt-PT" dirty="0" err="1"/>
              <a:t>def</a:t>
            </a:r>
            <a:r>
              <a:rPr lang="pt-PT" dirty="0"/>
              <a:t> </a:t>
            </a:r>
            <a:r>
              <a:rPr lang="pt-PT" dirty="0" err="1"/>
              <a:t>processar_fase</a:t>
            </a:r>
            <a:r>
              <a:rPr lang="pt-PT" dirty="0"/>
              <a:t>(arquivo):</a:t>
            </a:r>
          </a:p>
          <a:p>
            <a:r>
              <a:rPr lang="pt-PT" dirty="0"/>
              <a:t>    </a:t>
            </a:r>
            <a:r>
              <a:rPr lang="pt-PT" dirty="0" err="1"/>
              <a:t>df</a:t>
            </a:r>
            <a:r>
              <a:rPr lang="pt-PT" dirty="0"/>
              <a:t> = </a:t>
            </a:r>
            <a:r>
              <a:rPr lang="pt-PT" dirty="0" err="1"/>
              <a:t>pd.read_csv</a:t>
            </a:r>
            <a:r>
              <a:rPr lang="pt-PT" dirty="0"/>
              <a:t>(arquivo, </a:t>
            </a:r>
            <a:r>
              <a:rPr lang="pt-PT" dirty="0" err="1"/>
              <a:t>sep</a:t>
            </a:r>
            <a:r>
              <a:rPr lang="pt-PT" dirty="0"/>
              <a:t>='\t')</a:t>
            </a:r>
          </a:p>
          <a:p>
            <a:r>
              <a:rPr lang="pt-PT" dirty="0"/>
              <a:t>    </a:t>
            </a:r>
            <a:r>
              <a:rPr lang="pt-PT" dirty="0" err="1"/>
              <a:t>df</a:t>
            </a:r>
            <a:r>
              <a:rPr lang="pt-PT" dirty="0"/>
              <a:t>['total'] = </a:t>
            </a:r>
            <a:r>
              <a:rPr lang="pt-PT" dirty="0" err="1"/>
              <a:t>df.iloc</a:t>
            </a:r>
            <a:r>
              <a:rPr lang="pt-PT" dirty="0"/>
              <a:t>[:, 1:].sum(</a:t>
            </a:r>
            <a:r>
              <a:rPr lang="pt-PT" dirty="0" err="1"/>
              <a:t>axis</a:t>
            </a:r>
            <a:r>
              <a:rPr lang="pt-PT" dirty="0"/>
              <a:t>=1)  # Soma nós</a:t>
            </a:r>
          </a:p>
          <a:p>
            <a:r>
              <a:rPr lang="pt-PT" dirty="0"/>
              <a:t>    </a:t>
            </a:r>
            <a:r>
              <a:rPr lang="pt-PT" dirty="0" err="1"/>
              <a:t>return</a:t>
            </a:r>
            <a:r>
              <a:rPr lang="pt-PT" dirty="0"/>
              <a:t> </a:t>
            </a:r>
            <a:r>
              <a:rPr lang="pt-PT" dirty="0" err="1"/>
              <a:t>df</a:t>
            </a:r>
            <a:r>
              <a:rPr lang="pt-PT" dirty="0"/>
              <a:t>[['</a:t>
            </a:r>
            <a:r>
              <a:rPr lang="pt-PT" dirty="0" err="1"/>
              <a:t>timestamp</a:t>
            </a:r>
            <a:r>
              <a:rPr lang="pt-PT" dirty="0"/>
              <a:t>', 'total']]</a:t>
            </a:r>
          </a:p>
          <a:p>
            <a:endParaRPr lang="pt-PT" dirty="0"/>
          </a:p>
          <a:p>
            <a:r>
              <a:rPr lang="pt-PT" dirty="0"/>
              <a:t># Para consumo:</a:t>
            </a:r>
          </a:p>
          <a:p>
            <a:r>
              <a:rPr lang="pt-PT" dirty="0" err="1"/>
              <a:t>consumo_total</a:t>
            </a:r>
            <a:r>
              <a:rPr lang="pt-PT" dirty="0"/>
              <a:t> = (</a:t>
            </a:r>
            <a:r>
              <a:rPr lang="pt-PT" dirty="0" err="1"/>
              <a:t>processar_fase</a:t>
            </a:r>
            <a:r>
              <a:rPr lang="pt-PT" dirty="0"/>
              <a:t>('fase_a.txt') + </a:t>
            </a:r>
          </a:p>
          <a:p>
            <a:r>
              <a:rPr lang="pt-PT" dirty="0"/>
              <a:t>                 </a:t>
            </a:r>
            <a:r>
              <a:rPr lang="pt-PT" dirty="0" err="1"/>
              <a:t>processar_fase</a:t>
            </a:r>
            <a:r>
              <a:rPr lang="pt-PT" dirty="0"/>
              <a:t>('fase_b.txt') + </a:t>
            </a:r>
          </a:p>
          <a:p>
            <a:r>
              <a:rPr lang="pt-PT" dirty="0"/>
              <a:t>                 </a:t>
            </a:r>
            <a:r>
              <a:rPr lang="pt-PT" dirty="0" err="1"/>
              <a:t>processar_fase</a:t>
            </a:r>
            <a:r>
              <a:rPr lang="pt-PT" dirty="0"/>
              <a:t>('fase_c.txt'))</a:t>
            </a:r>
          </a:p>
        </p:txBody>
      </p:sp>
    </p:spTree>
    <p:extLst>
      <p:ext uri="{BB962C8B-B14F-4D97-AF65-F5344CB8AC3E}">
        <p14:creationId xmlns:p14="http://schemas.microsoft.com/office/powerpoint/2010/main" val="403348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2C29A-B480-F419-C97B-502F9B7E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63675"/>
          </a:xfrm>
        </p:spPr>
        <p:txBody>
          <a:bodyPr>
            <a:normAutofit fontScale="90000"/>
          </a:bodyPr>
          <a:lstStyle/>
          <a:p>
            <a:r>
              <a:rPr lang="pt-PT" b="0" i="0" dirty="0">
                <a:solidFill>
                  <a:srgbClr val="404040"/>
                </a:solidFill>
                <a:effectLst/>
                <a:latin typeface="DeepSeek-CJK-patch"/>
              </a:rPr>
              <a:t>Árvore de Decisão de IA</a:t>
            </a:r>
            <a:br>
              <a:rPr lang="pt-PT" b="0" i="0" dirty="0">
                <a:solidFill>
                  <a:srgbClr val="404040"/>
                </a:solidFill>
                <a:effectLst/>
                <a:latin typeface="DeepSeek-CJK-patch"/>
              </a:rPr>
            </a:br>
            <a:endParaRPr lang="pt-PT" dirty="0"/>
          </a:p>
        </p:txBody>
      </p:sp>
      <p:pic>
        <p:nvPicPr>
          <p:cNvPr id="5" name="Marcador de Posição de Conteúdo 4" descr="Uma imagem com texto, diagrama, file&#10;&#10;Os conteúdos gerados por IA poderão estar incorretos.">
            <a:extLst>
              <a:ext uri="{FF2B5EF4-FFF2-40B4-BE49-F238E27FC236}">
                <a16:creationId xmlns:a16="http://schemas.microsoft.com/office/drawing/2014/main" id="{FECAD8D9-F815-AC0D-BFEE-B04D70144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179" y="1583365"/>
            <a:ext cx="7762672" cy="4943788"/>
          </a:xfrm>
        </p:spPr>
      </p:pic>
    </p:spTree>
    <p:extLst>
      <p:ext uri="{BB962C8B-B14F-4D97-AF65-F5344CB8AC3E}">
        <p14:creationId xmlns:p14="http://schemas.microsoft.com/office/powerpoint/2010/main" val="56638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4B60A-FBAC-D6BB-9866-DE0FB4E4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LSTM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FF3A451-739B-61C4-BC55-92601070F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2800" dirty="0"/>
              <a:t>Arquitetura com 3 camadas LSTM (128, 64, 32 unidades) e </a:t>
            </a:r>
            <a:r>
              <a:rPr lang="pt-PT" sz="2800" dirty="0" err="1"/>
              <a:t>Dropout</a:t>
            </a:r>
            <a:r>
              <a:rPr lang="pt-PT" sz="2800" dirty="0"/>
              <a:t> para evitar </a:t>
            </a:r>
            <a:r>
              <a:rPr lang="pt-PT" sz="2800" dirty="0" err="1"/>
              <a:t>overfitting</a:t>
            </a:r>
            <a:r>
              <a:rPr lang="pt-PT" sz="2800" dirty="0"/>
              <a:t>.</a:t>
            </a:r>
          </a:p>
          <a:p>
            <a:r>
              <a:rPr lang="pt-PT" sz="2800" dirty="0"/>
              <a:t> Camadas Dense ao final para prever o consumo com base nos padrões aprendidos.</a:t>
            </a:r>
          </a:p>
          <a:p>
            <a:r>
              <a:rPr lang="pt-PT" sz="2800" dirty="0"/>
              <a:t> Foco em aprender dependências temporais sequenciais.</a:t>
            </a:r>
          </a:p>
          <a:p>
            <a:r>
              <a:rPr lang="pt-PT" sz="2800" b="1" dirty="0"/>
              <a:t>Métrica de avaliação</a:t>
            </a:r>
            <a:r>
              <a:rPr lang="pt-PT" sz="2800" dirty="0"/>
              <a:t>: MAE (Erro Médio Absoluto).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8159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DDBA3-CA66-1754-5F82-362148EC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Prophet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0295B9-A201-E66A-6372-58A8A6C99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875280" cy="3906434"/>
          </a:xfrm>
        </p:spPr>
        <p:txBody>
          <a:bodyPr/>
          <a:lstStyle/>
          <a:p>
            <a:r>
              <a:rPr lang="pt-PT" sz="2800" dirty="0"/>
              <a:t>Modelo desenvolvido pelo Facebook, ideal para séries temporais com sazonalidade.</a:t>
            </a:r>
          </a:p>
          <a:p>
            <a:r>
              <a:rPr lang="pt-PT" sz="2800" dirty="0"/>
              <a:t> Capaz de capturar tendências, mudanças e padrões diários, semanais e anuais.</a:t>
            </a:r>
          </a:p>
          <a:p>
            <a:r>
              <a:rPr lang="pt-PT" sz="2800" dirty="0"/>
              <a:t> Simples de treinar e interpretar.</a:t>
            </a:r>
          </a:p>
          <a:p>
            <a:r>
              <a:rPr lang="pt-PT" sz="2800" b="1" dirty="0"/>
              <a:t> Métricas: </a:t>
            </a:r>
            <a:r>
              <a:rPr lang="pt-PT" sz="2800" dirty="0"/>
              <a:t>MAE, RMSE, R².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1645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C91B2-3682-2418-B321-D2EE6534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Transformer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615707A-4A13-1835-45EB-920379BE1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2800" dirty="0"/>
              <a:t>Arquitetura moderna baseada em atenção </a:t>
            </a:r>
            <a:r>
              <a:rPr lang="pt-PT" sz="2800" dirty="0" err="1"/>
              <a:t>multi-head</a:t>
            </a:r>
            <a:r>
              <a:rPr lang="pt-PT" sz="2800" dirty="0"/>
              <a:t>.</a:t>
            </a:r>
          </a:p>
          <a:p>
            <a:r>
              <a:rPr lang="pt-PT" sz="2800" dirty="0"/>
              <a:t>Normalização de entrada + atenção + camadas Dense.</a:t>
            </a:r>
          </a:p>
          <a:p>
            <a:r>
              <a:rPr lang="pt-PT" sz="2800" dirty="0"/>
              <a:t>Indicado para aprender padrões complexos e de longo alcance.</a:t>
            </a:r>
          </a:p>
          <a:p>
            <a:r>
              <a:rPr lang="pt-PT" sz="2800" b="1" dirty="0"/>
              <a:t>Métrica de avaliação</a:t>
            </a:r>
            <a:r>
              <a:rPr lang="pt-PT" sz="2800" dirty="0"/>
              <a:t>: MAE.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9632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BCEBF-B8F7-9F3C-2A9A-772EB92F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Próximos passos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71F20BB-5F47-EAFC-2045-CB1D157E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843" y="1994170"/>
            <a:ext cx="10878522" cy="3967718"/>
          </a:xfrm>
        </p:spPr>
        <p:txBody>
          <a:bodyPr/>
          <a:lstStyle/>
          <a:p>
            <a:r>
              <a:rPr lang="pt-PT" sz="2800" dirty="0"/>
              <a:t>Implementar </a:t>
            </a:r>
            <a:r>
              <a:rPr lang="pt-PT" sz="2800" dirty="0" err="1"/>
              <a:t>TimeGAN</a:t>
            </a:r>
            <a:r>
              <a:rPr lang="pt-PT" sz="2800" dirty="0"/>
              <a:t> para geração de dados sintéticos.</a:t>
            </a:r>
          </a:p>
          <a:p>
            <a:r>
              <a:rPr lang="pt-PT" sz="2800" dirty="0"/>
              <a:t> Realizar </a:t>
            </a:r>
            <a:r>
              <a:rPr lang="pt-PT" sz="2800" dirty="0" err="1"/>
              <a:t>tuning</a:t>
            </a:r>
            <a:r>
              <a:rPr lang="pt-PT" sz="2800" dirty="0"/>
              <a:t> fino de </a:t>
            </a:r>
            <a:r>
              <a:rPr lang="pt-PT" sz="2800" dirty="0" err="1"/>
              <a:t>hiperparâmetros</a:t>
            </a:r>
            <a:r>
              <a:rPr lang="pt-PT" sz="2800" dirty="0"/>
              <a:t> e testar novos modelos (</a:t>
            </a:r>
            <a:r>
              <a:rPr lang="pt-PT" sz="2800" dirty="0" err="1"/>
              <a:t>XGBoost</a:t>
            </a:r>
            <a:r>
              <a:rPr lang="pt-PT" sz="2800" dirty="0"/>
              <a:t>).</a:t>
            </a:r>
          </a:p>
          <a:p>
            <a:r>
              <a:rPr lang="pt-PT" sz="2800" dirty="0"/>
              <a:t>Adicionar mais métricas de avaliação (RMSE,MAPE,R</a:t>
            </a:r>
            <a:r>
              <a:rPr lang="pt-PT" sz="2800" baseline="30000" dirty="0"/>
              <a:t>2</a:t>
            </a:r>
            <a:r>
              <a:rPr lang="pt-PT" sz="2800" dirty="0"/>
              <a:t>).</a:t>
            </a:r>
          </a:p>
          <a:p>
            <a:r>
              <a:rPr lang="pt-PT" sz="2800" dirty="0"/>
              <a:t>Fazer uma tabela de comparação entre os modelos estudados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769869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485</Words>
  <Application>Microsoft Office PowerPoint</Application>
  <PresentationFormat>Ecrã Panorâmico</PresentationFormat>
  <Paragraphs>60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DeepSeek-CJK-patch</vt:lpstr>
      <vt:lpstr>Univers Condensed</vt:lpstr>
      <vt:lpstr>ChronicleVTI</vt:lpstr>
      <vt:lpstr>Forecasting energy time series data with Generative A.I</vt:lpstr>
      <vt:lpstr>Objetivo</vt:lpstr>
      <vt:lpstr>Processamento dos dados da rede</vt:lpstr>
      <vt:lpstr>Processamento dos dados da rede</vt:lpstr>
      <vt:lpstr>Apresentação do PowerPoint</vt:lpstr>
      <vt:lpstr>exemplo</vt:lpstr>
      <vt:lpstr>Árvore de Decisão de IA </vt:lpstr>
      <vt:lpstr>LSTM</vt:lpstr>
      <vt:lpstr>Prophet</vt:lpstr>
      <vt:lpstr>Transformer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Caetano Luís</dc:creator>
  <cp:lastModifiedBy>Caetano Luís</cp:lastModifiedBy>
  <cp:revision>2</cp:revision>
  <dcterms:created xsi:type="dcterms:W3CDTF">2025-04-23T18:00:59Z</dcterms:created>
  <dcterms:modified xsi:type="dcterms:W3CDTF">2025-04-27T10:38:28Z</dcterms:modified>
</cp:coreProperties>
</file>
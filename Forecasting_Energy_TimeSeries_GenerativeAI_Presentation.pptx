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6" r:id="rId7"/>
    <p:sldId id="267" r:id="rId8"/>
    <p:sldId id="262" r:id="rId9"/>
    <p:sldId id="268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Rede de fios a interligar alfinetes">
            <a:extLst>
              <a:ext uri="{FF2B5EF4-FFF2-40B4-BE49-F238E27FC236}">
                <a16:creationId xmlns:a16="http://schemas.microsoft.com/office/drawing/2014/main" id="{20AE7F71-E646-DFD1-C958-ACE20DC8CD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914402"/>
            <a:ext cx="7886700" cy="2985923"/>
          </a:xfrm>
        </p:spPr>
        <p:txBody>
          <a:bodyPr>
            <a:normAutofit/>
          </a:bodyPr>
          <a:lstStyle/>
          <a:p>
            <a:r>
              <a:rPr lang="en-US" sz="4500" dirty="0">
                <a:solidFill>
                  <a:srgbClr val="FFFFFF"/>
                </a:solidFill>
              </a:rPr>
              <a:t>Forecasting Energy Time-Series Data Using Generative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072040"/>
            <a:ext cx="7886700" cy="13843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 sz="2200" dirty="0">
                <a:solidFill>
                  <a:srgbClr val="FFFFFF"/>
                </a:solidFill>
              </a:rPr>
              <a:t>Avanços Recentes e Aplicações em Redes Inteligentes</a:t>
            </a:r>
          </a:p>
          <a:p>
            <a:pPr>
              <a:lnSpc>
                <a:spcPct val="90000"/>
              </a:lnSpc>
            </a:pPr>
            <a:r>
              <a:rPr lang="pt-PT" sz="2200" dirty="0">
                <a:solidFill>
                  <a:srgbClr val="FFFFFF"/>
                </a:solidFill>
              </a:rPr>
              <a:t>Caetano Geraldo Policarpo Luís</a:t>
            </a:r>
          </a:p>
          <a:p>
            <a:pPr>
              <a:lnSpc>
                <a:spcPct val="90000"/>
              </a:lnSpc>
            </a:pPr>
            <a:r>
              <a:rPr lang="pt-PT" sz="2200" dirty="0">
                <a:solidFill>
                  <a:srgbClr val="FFFFFF"/>
                </a:solidFill>
              </a:rPr>
              <a:t> Engenharia Eletrotécnica e Sistemas de Energia</a:t>
            </a:r>
          </a:p>
          <a:p>
            <a:pPr>
              <a:lnSpc>
                <a:spcPct val="90000"/>
              </a:lnSpc>
            </a:pPr>
            <a:endParaRPr lang="pt-PT" sz="2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479F7F-F86C-F6FB-2A1E-F403DCC7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Time series data </a:t>
            </a:r>
            <a:r>
              <a:rPr lang="pt-PT" sz="3500" dirty="0" err="1">
                <a:solidFill>
                  <a:schemeClr val="bg1"/>
                </a:solidFill>
              </a:rPr>
              <a:t>forecasting</a:t>
            </a:r>
            <a:r>
              <a:rPr lang="pt-PT" sz="3500" dirty="0">
                <a:solidFill>
                  <a:schemeClr val="bg1"/>
                </a:solidFill>
              </a:rPr>
              <a:t>-Introdução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C7D4E4-1F0F-442B-8A1A-44842C5D77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0467" y="2217343"/>
            <a:ext cx="8628435" cy="3959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previsão de séries temporais de energia é crítica para gestão de redes, integração de renováveis e eficiência energética.</a:t>
            </a:r>
            <a:b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Desafios: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Sazonalidade</a:t>
            </a: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incertezas climáticas </a:t>
            </a: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dados incompletos</a:t>
            </a: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Solução: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Generative</a:t>
            </a: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oferece flexibilidade para previsão e simulação de cenários.</a:t>
            </a:r>
            <a:b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Explorar como modelos generativos transformam a previsão energética.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PT" altLang="pt-PT" sz="2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t-PT" altLang="pt-PT" sz="2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7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 err="1">
                <a:solidFill>
                  <a:schemeClr val="bg1"/>
                </a:solidFill>
              </a:rPr>
              <a:t>Energy</a:t>
            </a:r>
            <a:r>
              <a:rPr lang="pt-PT" sz="3500" dirty="0">
                <a:solidFill>
                  <a:schemeClr val="bg1"/>
                </a:solidFill>
              </a:rPr>
              <a:t> Time series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562" y="2181360"/>
            <a:ext cx="8735438" cy="3959619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Dados sequenciais de energia 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(ex.: consumo em kWh, produção renovável) coletados ao longo do tempo.</a:t>
            </a:r>
            <a:b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Exemplos: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Consumo elétrico horário 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(ex.: dados EDP)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Produção eólica/solar diária 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(ex.: REN)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Preços no mercado energético</a:t>
            </a:r>
            <a:b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Sazonalidade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(diária/anual)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Ruído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(eventos extremos)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Dependências temporais</a:t>
            </a:r>
            <a:b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Desafios: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Alta variabilidade e lacunas nos dados.</a:t>
            </a:r>
          </a:p>
          <a:p>
            <a:pPr marL="0" indent="0">
              <a:buNone/>
            </a:pPr>
            <a:endParaRPr lang="pt-PT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200" dirty="0">
                <a:solidFill>
                  <a:schemeClr val="bg1"/>
                </a:solidFill>
              </a:rPr>
              <a:t>Inteligência Artificial Generativa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Modelos de IA que geram dados novos a partir de padrões aprendidos.</a:t>
            </a:r>
            <a:b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1800" b="0" i="0" dirty="0">
              <a:solidFill>
                <a:srgbClr val="242424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Principais Tecnologias:</a:t>
            </a:r>
          </a:p>
          <a:p>
            <a:pPr algn="l">
              <a:buFont typeface="+mj-lt"/>
              <a:buAutoNum type="arabicPeriod"/>
            </a:pPr>
            <a:r>
              <a:rPr lang="pt-PT" sz="1800" b="1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GANs</a:t>
            </a:r>
            <a:r>
              <a:rPr lang="pt-PT" sz="1800" b="1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PT" sz="1800" b="0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Generative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800" b="0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Adversarial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Networks): Gerador e Discriminador em competição.</a:t>
            </a:r>
          </a:p>
          <a:p>
            <a:pPr algn="l">
              <a:buFont typeface="+mj-lt"/>
              <a:buAutoNum type="arabicPeriod"/>
            </a:pPr>
            <a:r>
              <a:rPr lang="pt-PT" sz="1800" b="1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VAEs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PT" sz="1800" b="0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Variational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800" b="0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Autoencoders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Modelagem probabilística de dados.</a:t>
            </a:r>
          </a:p>
          <a:p>
            <a:pPr algn="l">
              <a:buFont typeface="+mj-lt"/>
              <a:buAutoNum type="arabicPeriod"/>
            </a:pPr>
            <a:r>
              <a:rPr lang="pt-PT" sz="1800" b="1" i="0" dirty="0" err="1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Transformers</a:t>
            </a:r>
            <a:r>
              <a:rPr lang="pt-PT" sz="1800" b="1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Atenção para sequências temporais.</a:t>
            </a:r>
            <a:br>
              <a:rPr lang="pt-PT" sz="18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Modelos e Ferramentas Utilizadas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941" y="2109593"/>
            <a:ext cx="7485434" cy="3959619"/>
          </a:xfrm>
        </p:spPr>
        <p:txBody>
          <a:bodyPr>
            <a:normAutofit lnSpcReduction="10000"/>
          </a:bodyPr>
          <a:lstStyle/>
          <a:p>
            <a:pPr algn="l">
              <a:buNone/>
            </a:pPr>
            <a:r>
              <a:rPr lang="pt-PT" sz="2100" dirty="0"/>
              <a:t> 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Métodos Clássicos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ARIMA/SARIMA: Simples, mas limitado a padrões lineares.</a:t>
            </a:r>
          </a:p>
          <a:p>
            <a:pPr marL="0" indent="0" algn="l">
              <a:buNone/>
            </a:pP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LSTM: Captura dependências curtas, robusto a ruído.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Rápido com variáveis externas (ex.: clima).</a:t>
            </a:r>
            <a:b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PT" sz="2000" b="0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Avançado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(TFT): 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para séries longas.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TCN (Temporal </a:t>
            </a: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Network)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Eficiente para previsões médias.</a:t>
            </a:r>
          </a:p>
          <a:p>
            <a:pPr marL="0" indent="0" algn="l">
              <a:buNone/>
            </a:pPr>
            <a:r>
              <a:rPr lang="pt-PT" sz="20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Generative</a:t>
            </a:r>
            <a:r>
              <a:rPr lang="pt-PT" sz="20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0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TimeGAN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PT" sz="20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VAEs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Geração de cenários realistas.</a:t>
            </a:r>
          </a:p>
          <a:p>
            <a:endParaRPr lang="pt-PT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7BD654-C0F0-8B56-AD47-92C5AF8E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Modelos Generativos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0DB60BF-6C6F-857B-B76F-73A7C583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79" y="2217343"/>
            <a:ext cx="8453336" cy="3959619"/>
          </a:xfrm>
        </p:spPr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TimeGAN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GANs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Séries Temporais):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Arquitetura: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temporais (GRU) + perda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adversarial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Benefício: Gera séries realistas com dependências de longo prazo.</a:t>
            </a:r>
          </a:p>
          <a:p>
            <a:pPr algn="l">
              <a:buFont typeface="+mj-lt"/>
              <a:buAutoNum type="arabicPeriod" startAt="2"/>
            </a:pP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VAEs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Variational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Funcionamento: Espaço latente para reconstrução e geração.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Aplicação: Preenchimento de dados ausentes.</a:t>
            </a:r>
          </a:p>
          <a:p>
            <a:pPr algn="l">
              <a:buFont typeface="+mj-lt"/>
              <a:buAutoNum type="arabicPeriod" startAt="3"/>
            </a:pP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Informer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Mecanismo: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ProbSparse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eficiência.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Vantagem: Previsão escalável em horizontes longos.</a:t>
            </a:r>
          </a:p>
          <a:p>
            <a:endParaRPr lang="pt-PT" sz="2100" dirty="0"/>
          </a:p>
        </p:txBody>
      </p:sp>
    </p:spTree>
    <p:extLst>
      <p:ext uri="{BB962C8B-B14F-4D97-AF65-F5344CB8AC3E}">
        <p14:creationId xmlns:p14="http://schemas.microsoft.com/office/powerpoint/2010/main" val="1189740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583B75-B1C8-ECBD-B986-B63462069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Metodologia proposta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8269444-4C55-2B56-825A-088F26E18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021" y="2217343"/>
            <a:ext cx="8171234" cy="4235015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Séries energéticas portuguesas (ex.: EDP, REN).</a:t>
            </a:r>
          </a:p>
          <a:p>
            <a:pPr algn="l">
              <a:buFont typeface="+mj-lt"/>
              <a:buAutoNum type="arabicPeriod"/>
            </a:pP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Pré-processamento: 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Normalização, tratamento de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</a:p>
          <a:p>
            <a:pPr algn="l">
              <a:buFont typeface="+mj-lt"/>
              <a:buAutoNum type="arabicPeriod"/>
            </a:pP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Modelos: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PT" sz="20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TimeGAN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Geração de cenários.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PT" sz="20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Informer</a:t>
            </a:r>
            <a:r>
              <a:rPr lang="pt-PT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Previsão de longo prazo.</a:t>
            </a:r>
          </a:p>
          <a:p>
            <a:pPr algn="l">
              <a:buFont typeface="+mj-lt"/>
              <a:buAutoNum type="arabicPeriod"/>
            </a:pP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Treinamento: 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perda 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adversarial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/KL-</a:t>
            </a:r>
            <a:r>
              <a:rPr lang="pt-PT" sz="2400" b="1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divergence</a:t>
            </a:r>
            <a:r>
              <a:rPr lang="pt-PT" sz="24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Validação: RMSE, MAPE vs. dados reais.</a:t>
            </a:r>
          </a:p>
          <a:p>
            <a:endParaRPr lang="pt-PT" sz="2100" dirty="0"/>
          </a:p>
        </p:txBody>
      </p:sp>
    </p:spTree>
    <p:extLst>
      <p:ext uri="{BB962C8B-B14F-4D97-AF65-F5344CB8AC3E}">
        <p14:creationId xmlns:p14="http://schemas.microsoft.com/office/powerpoint/2010/main" val="3788125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Exemplos de ideias a desenvolver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 de dados meteorológicos, preços e sensores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 em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microgrids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reais ou simuladas (MATPOWER)</a:t>
            </a:r>
          </a:p>
          <a:p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Explorar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decisões ótimas em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Estudo comparativo entre TFT,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DeepAR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Prophet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PT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1B96D2-BB01-037A-2FFC-C74001C0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Desafios e limitações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75C751C-39FF-6DAA-0E07-4C042571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Necessidade de grandes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(ex.: anos de dados horários).</a:t>
            </a:r>
          </a:p>
          <a:p>
            <a:pPr algn="l">
              <a:buFont typeface="+mj-lt"/>
              <a:buAutoNum type="arabicPeriod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 computacional (treinamento de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GANs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Interpretação dos resultados gerados.</a:t>
            </a:r>
            <a:b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Soluções: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 dados públicos.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Clusters computacionais do centro de investigação.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sz="2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Validação estatística rigorosa (ex.: testes </a:t>
            </a:r>
            <a:r>
              <a:rPr lang="pt-PT" sz="14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de realismo).</a:t>
            </a:r>
          </a:p>
          <a:p>
            <a:endParaRPr lang="pt-PT" sz="2100" dirty="0"/>
          </a:p>
        </p:txBody>
      </p:sp>
    </p:spTree>
    <p:extLst>
      <p:ext uri="{BB962C8B-B14F-4D97-AF65-F5344CB8AC3E}">
        <p14:creationId xmlns:p14="http://schemas.microsoft.com/office/powerpoint/2010/main" val="23491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pt-PT" sz="3500" dirty="0">
                <a:solidFill>
                  <a:schemeClr val="bg1"/>
                </a:solidFill>
              </a:rPr>
              <a:t>Conclusão e </a:t>
            </a:r>
            <a:r>
              <a:rPr lang="pt-PT" sz="3500" dirty="0" err="1">
                <a:solidFill>
                  <a:schemeClr val="bg1"/>
                </a:solidFill>
              </a:rPr>
              <a:t>Perspectivas</a:t>
            </a:r>
            <a:r>
              <a:rPr lang="pt-PT" sz="3500" dirty="0">
                <a:solidFill>
                  <a:schemeClr val="bg1"/>
                </a:solidFill>
              </a:rPr>
              <a:t> Futuras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839" y="2217343"/>
            <a:ext cx="7771492" cy="3959619"/>
          </a:xfrm>
        </p:spPr>
        <p:txBody>
          <a:bodyPr>
            <a:normAutofit/>
          </a:bodyPr>
          <a:lstStyle/>
          <a:p>
            <a:pPr algn="just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IA Generativa transforma a previsão energética com maior precisão</a:t>
            </a:r>
          </a:p>
          <a:p>
            <a:pPr algn="just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Modelos como TFT e 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Darts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trazem robustez para redes inteligentes</a:t>
            </a:r>
          </a:p>
          <a:p>
            <a:pPr algn="just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Projetos open-</a:t>
            </a:r>
            <a:r>
              <a:rPr lang="pt-PT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apoiam desenvolvimento rápido e validado</a:t>
            </a:r>
          </a:p>
          <a:p>
            <a:pPr algn="just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Caminho promissor: 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 + Dados + </a:t>
            </a:r>
            <a:r>
              <a:rPr lang="pt-P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Eficiência Energética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568</Words>
  <Application>Microsoft Office PowerPoint</Application>
  <PresentationFormat>Apresentação no Ecrã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Times New Roman</vt:lpstr>
      <vt:lpstr>Office Theme</vt:lpstr>
      <vt:lpstr>Forecasting Energy Time-Series Data Using Generative AI</vt:lpstr>
      <vt:lpstr>Time series data forecasting-Introdução</vt:lpstr>
      <vt:lpstr>Energy Time series data</vt:lpstr>
      <vt:lpstr>Inteligência Artificial Generativa</vt:lpstr>
      <vt:lpstr>Modelos e Ferramentas Utilizadas</vt:lpstr>
      <vt:lpstr>Modelos Generativos</vt:lpstr>
      <vt:lpstr>Metodologia proposta</vt:lpstr>
      <vt:lpstr>Exemplos de ideias a desenvolver</vt:lpstr>
      <vt:lpstr>Desafios e limitações</vt:lpstr>
      <vt:lpstr>Conclusão e Perspectivas Futuras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Caetano Luís</cp:lastModifiedBy>
  <cp:revision>2</cp:revision>
  <dcterms:created xsi:type="dcterms:W3CDTF">2013-01-27T09:14:16Z</dcterms:created>
  <dcterms:modified xsi:type="dcterms:W3CDTF">2025-03-12T13:04:31Z</dcterms:modified>
  <cp:category/>
</cp:coreProperties>
</file>